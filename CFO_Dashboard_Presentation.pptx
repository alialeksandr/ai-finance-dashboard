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45720"/>
            <a:ext cx="12191695" cy="0"/>
          </a:xfrm>
          <a:prstGeom prst="line">
            <a:avLst/>
          </a:prstGeom>
          <a:ln w="508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CFO Dashboard –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Calibri"/>
              </a:defRPr>
            </a:pPr>
            <a:r>
              <a:t>AI-enabled dashboarding &amp; BI for financial professionals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43000"/>
            <a:ext cx="10881360" cy="0"/>
          </a:xfrm>
          <a:prstGeom prst="line">
            <a:avLst/>
          </a:prstGeom>
          <a:ln w="63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25880"/>
            <a:ext cx="5303520" cy="484632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Discussed 27/03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0B8C8"/>
                </a:solidFill>
                <a:latin typeface="Calibri"/>
              </a:defRPr>
            </a:pPr>
            <a:r>
              <a:t>Discover possibilities to create an AI-enabled dashboarding and BI solution for:</a:t>
            </a:r>
          </a:p>
          <a:p>
            <a:pPr algn="l" lvl="1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Financial professionals working with SMBs</a:t>
            </a:r>
          </a:p>
          <a:p>
            <a:pPr algn="l" lvl="1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SMB owners</a:t>
            </a:r>
          </a:p>
          <a:p>
            <a:pPr algn="l" lvl="1">
              <a:spcAft>
                <a:spcPts val="8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Second stage: payroll companies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00C9A7"/>
                </a:solidFill>
                <a:latin typeface="Calibri"/>
              </a:defRPr>
            </a:pPr>
            <a:r>
              <a:t>Global goal: commercialise as SaaS / micro-SaaS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4754880" cy="228600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✔  AI analytics – ask questions &amp; generate management action insights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✔  Advanced data slicing / dicing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✔  Traceability &amp;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486400" cy="484632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63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[AI Strategy Lab]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296"/>
                </a:solidFill>
                <a:latin typeface="Calibri"/>
              </a:defRPr>
            </a:pPr>
            <a:r>
              <a:t>Reference screenshot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82880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[Financial Controller]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296"/>
                </a:solidFill>
                <a:latin typeface="Calibri"/>
              </a:defRPr>
            </a:pPr>
            <a:r>
              <a:t>Reference screenshot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65760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[Executive Dashboard]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296"/>
                </a:solidFill>
                <a:latin typeface="Calibri"/>
              </a:defRPr>
            </a:pPr>
            <a:r>
              <a:t>Reference screenshot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65760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7A8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296"/>
                </a:solidFill>
                <a:latin typeface="Calibri"/>
              </a:defRPr>
            </a:pPr>
            <a:r>
              <a:t>[Data Upload]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A8296"/>
                </a:solidFill>
                <a:latin typeface="Calibri"/>
              </a:defRPr>
            </a:pPr>
            <a:r>
              <a:t>Reference 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440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FD54F"/>
                </a:solidFill>
                <a:latin typeface="Calibri"/>
              </a:defRPr>
            </a:pPr>
            <a:r>
              <a:t>⚠  Observation: significant number of operational solutions with similar functionality already exist in the market.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296"/>
                </a:solidFill>
                <a:latin typeface="Calibri"/>
              </a:defRPr>
            </a:pPr>
            <a:r>
              <a:t>CFO Dashboard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296"/>
                </a:solidFill>
                <a:latin typeface="Calibri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45720"/>
            <a:ext cx="12191695" cy="0"/>
          </a:xfrm>
          <a:prstGeom prst="line">
            <a:avLst/>
          </a:prstGeom>
          <a:ln w="508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Roadmap &amp; Proof of Concept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868680"/>
            <a:ext cx="10881360" cy="0"/>
          </a:xfrm>
          <a:prstGeom prst="line">
            <a:avLst/>
          </a:prstGeom>
          <a:ln w="63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051560"/>
            <a:ext cx="10972800" cy="237744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965960"/>
            <a:ext cx="9875520" cy="137160"/>
          </a:xfrm>
          <a:prstGeom prst="roundRect">
            <a:avLst>
              <a:gd name="adj" fmla="val 50000"/>
            </a:avLst>
          </a:prstGeom>
          <a:solidFill>
            <a:srgbClr val="2A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965960"/>
            <a:ext cx="2468880" cy="13716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005840" y="1943100"/>
            <a:ext cx="182880" cy="182880"/>
          </a:xfrm>
          <a:prstGeom prst="diamond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9A7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30.03</a:t>
            </a:r>
          </a:p>
        </p:txBody>
      </p:sp>
      <p:sp>
        <p:nvSpPr>
          <p:cNvPr id="12" name="Diamond 11"/>
          <p:cNvSpPr/>
          <p:nvPr/>
        </p:nvSpPr>
        <p:spPr>
          <a:xfrm>
            <a:off x="2487168" y="1943100"/>
            <a:ext cx="182880" cy="182880"/>
          </a:xfrm>
          <a:prstGeom prst="diamond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0B8C8"/>
                </a:solidFill>
                <a:latin typeface="Calibri"/>
              </a:defRPr>
            </a:pPr>
            <a:r>
              <a:t>PoC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30.03 – 04.10</a:t>
            </a:r>
          </a:p>
        </p:txBody>
      </p:sp>
      <p:sp>
        <p:nvSpPr>
          <p:cNvPr id="15" name="Diamond 14"/>
          <p:cNvSpPr/>
          <p:nvPr/>
        </p:nvSpPr>
        <p:spPr>
          <a:xfrm>
            <a:off x="3968496" y="1943100"/>
            <a:ext cx="182880" cy="182880"/>
          </a:xfrm>
          <a:prstGeom prst="diamond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9A7"/>
                </a:solidFill>
                <a:latin typeface="Calibri"/>
              </a:defRPr>
            </a:pPr>
            <a:r>
              <a:t>PoC Milestone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04.10</a:t>
            </a:r>
          </a:p>
        </p:txBody>
      </p:sp>
      <p:sp>
        <p:nvSpPr>
          <p:cNvPr id="18" name="Diamond 17"/>
          <p:cNvSpPr/>
          <p:nvPr/>
        </p:nvSpPr>
        <p:spPr>
          <a:xfrm>
            <a:off x="5943600" y="1943100"/>
            <a:ext cx="182880" cy="182880"/>
          </a:xfrm>
          <a:prstGeom prst="diamond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0B8C8"/>
                </a:solidFill>
                <a:latin typeface="Calibri"/>
              </a:defRPr>
            </a:pPr>
            <a:r>
              <a:t>MVP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04.10 – 31.05</a:t>
            </a:r>
          </a:p>
        </p:txBody>
      </p:sp>
      <p:sp>
        <p:nvSpPr>
          <p:cNvPr id="21" name="Diamond 20"/>
          <p:cNvSpPr/>
          <p:nvPr/>
        </p:nvSpPr>
        <p:spPr>
          <a:xfrm>
            <a:off x="5153558" y="1943100"/>
            <a:ext cx="182880" cy="182880"/>
          </a:xfrm>
          <a:prstGeom prst="diamond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6358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8C00"/>
                </a:solidFill>
                <a:latin typeface="Calibri"/>
              </a:defRPr>
            </a:pPr>
            <a:r>
              <a:t>AI Fin Club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6358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01.05</a:t>
            </a:r>
          </a:p>
        </p:txBody>
      </p:sp>
      <p:sp>
        <p:nvSpPr>
          <p:cNvPr id="24" name="Diamond 23"/>
          <p:cNvSpPr/>
          <p:nvPr/>
        </p:nvSpPr>
        <p:spPr>
          <a:xfrm>
            <a:off x="7918704" y="1943100"/>
            <a:ext cx="182880" cy="182880"/>
          </a:xfrm>
          <a:prstGeom prst="diamond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C63FF"/>
                </a:solidFill>
                <a:latin typeface="Calibri"/>
              </a:defRPr>
            </a:pPr>
            <a:r>
              <a:t>MVP Milestone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31.05</a:t>
            </a:r>
          </a:p>
        </p:txBody>
      </p:sp>
      <p:sp>
        <p:nvSpPr>
          <p:cNvPr id="27" name="Diamond 26"/>
          <p:cNvSpPr/>
          <p:nvPr/>
        </p:nvSpPr>
        <p:spPr>
          <a:xfrm>
            <a:off x="9103766" y="1943100"/>
            <a:ext cx="182880" cy="182880"/>
          </a:xfrm>
          <a:prstGeom prst="diamond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6566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0B8C8"/>
                </a:solidFill>
                <a:latin typeface="Calibri"/>
              </a:defRPr>
            </a:pPr>
            <a:r>
              <a:t>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6566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31.05 – ...</a:t>
            </a:r>
          </a:p>
        </p:txBody>
      </p:sp>
      <p:sp>
        <p:nvSpPr>
          <p:cNvPr id="30" name="Diamond 29"/>
          <p:cNvSpPr/>
          <p:nvPr/>
        </p:nvSpPr>
        <p:spPr>
          <a:xfrm>
            <a:off x="10881360" y="1943100"/>
            <a:ext cx="182880" cy="182880"/>
          </a:xfrm>
          <a:prstGeom prst="diamond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CAF50"/>
                </a:solidFill>
                <a:latin typeface="Calibri"/>
              </a:defRPr>
            </a:pPr>
            <a:r>
              <a:t>First Prod 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A8296"/>
                </a:solidFill>
                <a:latin typeface="Calibri"/>
              </a:defRPr>
            </a:pPr>
            <a:r>
              <a:t>31.08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61188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 w="127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54F"/>
                </a:solidFill>
                <a:latin typeface="Calibri"/>
              </a:defRPr>
            </a:pPr>
            <a:r>
              <a:t>POC SCOPE RATIONALE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97763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B0B8C8"/>
                </a:solidFill>
                <a:latin typeface="Calibri"/>
              </a:defRPr>
            </a:pPr>
            <a:r>
              <a:t>Original intention was to build something as close to references as possible, but with limited time and unavailable real-life data for hypothesis testing, the PoC was minimised to a smaller scope:</a:t>
            </a:r>
          </a:p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→  Address one small feature fixing common SMB finance workflow issues: scattered data consolidation, repeating reconciliation tasks with unstructured data, lack of quick visualisation in small automation tools.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POC GOALS ACHIEVED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321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9A7"/>
                </a:solidFill>
                <a:latin typeface="Calibri"/>
              </a:defRPr>
            </a:pPr>
            <a:r>
              <a:t>FOR ALEX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8521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Deep dive into problem domain &amp; industry awareness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Awareness of industry software landscape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Applied new AI tools &amp; known tools in new context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55321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  <a:latin typeface="Calibri"/>
              </a:defRPr>
            </a:pPr>
            <a:r>
              <a:t>FOR MANNY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8521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Effort estimation for potential full-scope implementation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High-level architecture &amp; technical foundation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Potential material for AI Fin Club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296"/>
                </a:solidFill>
                <a:latin typeface="Calibri"/>
              </a:defRPr>
            </a:pPr>
            <a:r>
              <a:t>CFO Dashboard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296"/>
                </a:solidFill>
                <a:latin typeface="Calibri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45720"/>
            <a:ext cx="12191695" cy="0"/>
          </a:xfrm>
          <a:prstGeom prst="line">
            <a:avLst/>
          </a:prstGeom>
          <a:ln w="508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 &amp;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868680"/>
            <a:ext cx="10881360" cy="0"/>
          </a:xfrm>
          <a:prstGeom prst="line">
            <a:avLst/>
          </a:prstGeom>
          <a:ln w="63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051560"/>
            <a:ext cx="10972800" cy="256032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USE CASE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User triggers</a:t>
            </a:r>
            <a:br/>
            <a:r>
              <a:t>Dashboard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63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2880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Sales / Inventory</a:t>
            </a:r>
            <a:br/>
            <a:r>
              <a:t>Report from Gmail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A4335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82880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13B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Invoice Data</a:t>
            </a:r>
            <a:br/>
            <a:r>
              <a:t>from Xero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3B5E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82880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 Combined</a:t>
            </a:r>
            <a:br/>
            <a:r>
              <a:t>&amp;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9A7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82880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9659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Dashboard:</a:t>
            </a:r>
            <a:br/>
            <a:r>
              <a:t>Outstanding</a:t>
            </a:r>
            <a:br/>
            <a:r>
              <a:t>Collectables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10972800" cy="274320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66344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73659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Gmail</a:t>
            </a:r>
            <a:br/>
            <a:r>
              <a:t>(Data Source)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57784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13B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5099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Xero</a:t>
            </a:r>
            <a:br/>
            <a:r>
              <a:t>(Accounting)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937760"/>
            <a:ext cx="1645920" cy="109728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5010912"/>
            <a:ext cx="1463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  <a:br/>
            <a:r>
              <a:t>(Workflow</a:t>
            </a:r>
            <a:br/>
            <a:r>
              <a:t>Orchestration)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3891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446227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Front-end</a:t>
            </a:r>
            <a:br/>
            <a:r>
              <a:t>JS, Vue, npm, nginx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539496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54681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Back-end</a:t>
            </a:r>
            <a:br/>
            <a:r>
              <a:t>JS, npm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466344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736592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AI SMB CFO</a:t>
            </a:r>
            <a:br/>
            <a:r>
              <a:t>Dashboard</a:t>
            </a:r>
            <a:br/>
            <a:r>
              <a:t>(ai-smb-cfo.nl)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68880" y="5029200"/>
            <a:ext cx="822960" cy="182880"/>
          </a:xfrm>
          <a:prstGeom prst="line">
            <a:avLst/>
          </a:prstGeom>
          <a:ln w="190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68880" y="5669280"/>
            <a:ext cx="822960" cy="274320"/>
          </a:xfrm>
          <a:prstGeom prst="line">
            <a:avLst/>
          </a:prstGeom>
          <a:ln w="190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937760" y="4754880"/>
            <a:ext cx="822960" cy="457200"/>
          </a:xfrm>
          <a:prstGeom prst="line">
            <a:avLst/>
          </a:prstGeom>
          <a:ln w="190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937760" y="5486400"/>
            <a:ext cx="822960" cy="274320"/>
          </a:xfrm>
          <a:prstGeom prst="line">
            <a:avLst/>
          </a:prstGeom>
          <a:ln w="190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72400" y="4754880"/>
            <a:ext cx="731520" cy="274320"/>
          </a:xfrm>
          <a:prstGeom prst="line">
            <a:avLst/>
          </a:prstGeom>
          <a:ln w="190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772400" y="5394960"/>
            <a:ext cx="731520" cy="365760"/>
          </a:xfrm>
          <a:prstGeom prst="line">
            <a:avLst/>
          </a:prstGeom>
          <a:ln w="190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60720" y="6217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296"/>
                </a:solidFill>
                <a:latin typeface="Calibri"/>
              </a:defRPr>
            </a:pPr>
            <a:r>
              <a:t>WEB-app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296"/>
                </a:solidFill>
                <a:latin typeface="Calibri"/>
              </a:defRPr>
            </a:pPr>
            <a:r>
              <a:t>[Refer to attached architecture diagram for n8n workflow detail]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296"/>
                </a:solidFill>
                <a:latin typeface="Calibri"/>
              </a:defRPr>
            </a:pPr>
            <a:r>
              <a:t>CFO Dashboard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296"/>
                </a:solidFill>
                <a:latin typeface="Calibri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45720"/>
            <a:ext cx="12191695" cy="0"/>
          </a:xfrm>
          <a:prstGeom prst="line">
            <a:avLst/>
          </a:prstGeom>
          <a:ln w="508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Open Questions &amp; Other Business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868680"/>
            <a:ext cx="10881360" cy="0"/>
          </a:xfrm>
          <a:prstGeom prst="line">
            <a:avLst/>
          </a:prstGeom>
          <a:ln w="6350">
            <a:solidFill>
              <a:srgbClr val="7A82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18872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17320"/>
            <a:ext cx="548640" cy="548640"/>
          </a:xfrm>
          <a:prstGeom prst="ellipse">
            <a:avLst/>
          </a:prstGeom>
          <a:solidFill>
            <a:srgbClr val="2A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9A7"/>
                </a:solidFill>
                <a:latin typeface="Calibri"/>
              </a:defRPr>
            </a:pPr>
            <a: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are the real value features to build?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This impacts functional architecture, integrations, and technical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697480"/>
            <a:ext cx="548640" cy="548640"/>
          </a:xfrm>
          <a:prstGeom prst="ellipse">
            <a:avLst/>
          </a:prstGeom>
          <a:solidFill>
            <a:srgbClr val="2A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63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Share contact of Payroll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0632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Check potential connection and explore payroll use case as second stage.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4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3977640"/>
            <a:ext cx="548640" cy="548640"/>
          </a:xfrm>
          <a:prstGeom prst="ellipse">
            <a:avLst/>
          </a:prstGeom>
          <a:solidFill>
            <a:srgbClr val="2A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8C00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319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Alternative: develop plug-in for existing platform (e.g. Xero)?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Instead of standalone SaaS, consider integrating into established ecosystems.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32838"/>
          </a:solidFill>
          <a:ln w="127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5257800"/>
            <a:ext cx="548640" cy="548640"/>
          </a:xfrm>
          <a:prstGeom prst="ellipse">
            <a:avLst/>
          </a:prstGeom>
          <a:solidFill>
            <a:srgbClr val="2A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54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120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Reminder: Supplements topic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235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8"/>
                </a:solidFill>
                <a:latin typeface="Calibri"/>
              </a:defRPr>
            </a:pPr>
            <a:r>
              <a:t>Follow up on supplements discussion from previous meetings.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5943600"/>
            <a:ext cx="5760720" cy="594360"/>
          </a:xfrm>
          <a:prstGeom prst="roundRect">
            <a:avLst>
              <a:gd name="adj" fmla="val 5000"/>
            </a:avLst>
          </a:prstGeom>
          <a:solidFill>
            <a:srgbClr val="2A2F42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5989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t>Discussion needed to align on priorities and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296"/>
                </a:solidFill>
                <a:latin typeface="Calibri"/>
              </a:defRPr>
            </a:pPr>
            <a:r>
              <a:t>CFO Dashboard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296"/>
                </a:solidFill>
                <a:latin typeface="Calibri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